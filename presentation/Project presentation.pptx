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66" y="12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829921-B918-4F3C-AE46-60337F5C53E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09657E4-DD93-494F-A54C-3AD7FF4ADE8D}">
      <dgm:prSet/>
      <dgm:spPr/>
      <dgm:t>
        <a:bodyPr/>
        <a:lstStyle/>
        <a:p>
          <a:pPr>
            <a:defRPr cap="all"/>
          </a:pPr>
          <a:r>
            <a:rPr lang="en-US"/>
            <a:t>Estimated Project Duration: 16 Weeks</a:t>
          </a:r>
        </a:p>
      </dgm:t>
    </dgm:pt>
    <dgm:pt modelId="{4F784A28-7BF8-4CB6-8EDD-FB6FF69CA05D}" type="parTrans" cxnId="{8B421A81-4AC4-4361-B6DC-56A8D838D852}">
      <dgm:prSet/>
      <dgm:spPr/>
      <dgm:t>
        <a:bodyPr/>
        <a:lstStyle/>
        <a:p>
          <a:endParaRPr lang="en-US"/>
        </a:p>
      </dgm:t>
    </dgm:pt>
    <dgm:pt modelId="{4CD9B54B-D051-4642-9762-EF2CDA925DE9}" type="sibTrans" cxnId="{8B421A81-4AC4-4361-B6DC-56A8D838D852}">
      <dgm:prSet/>
      <dgm:spPr/>
      <dgm:t>
        <a:bodyPr/>
        <a:lstStyle/>
        <a:p>
          <a:endParaRPr lang="en-US"/>
        </a:p>
      </dgm:t>
    </dgm:pt>
    <dgm:pt modelId="{4C377C0C-3DC7-4E72-893F-D5A3491176A2}">
      <dgm:prSet/>
      <dgm:spPr/>
      <dgm:t>
        <a:bodyPr/>
        <a:lstStyle/>
        <a:p>
          <a:pPr>
            <a:defRPr cap="all"/>
          </a:pPr>
          <a:r>
            <a:rPr lang="en-US"/>
            <a:t>• Planning – 2 weeks</a:t>
          </a:r>
        </a:p>
      </dgm:t>
    </dgm:pt>
    <dgm:pt modelId="{C97DD81D-EE7D-4726-B1B9-8EA67216B64B}" type="parTrans" cxnId="{6AF48194-25CE-4D5C-8DB3-DFD5B2E1C08E}">
      <dgm:prSet/>
      <dgm:spPr/>
      <dgm:t>
        <a:bodyPr/>
        <a:lstStyle/>
        <a:p>
          <a:endParaRPr lang="en-US"/>
        </a:p>
      </dgm:t>
    </dgm:pt>
    <dgm:pt modelId="{4F575276-034B-47C6-A53A-EF298A9A2FC2}" type="sibTrans" cxnId="{6AF48194-25CE-4D5C-8DB3-DFD5B2E1C08E}">
      <dgm:prSet/>
      <dgm:spPr/>
      <dgm:t>
        <a:bodyPr/>
        <a:lstStyle/>
        <a:p>
          <a:endParaRPr lang="en-US"/>
        </a:p>
      </dgm:t>
    </dgm:pt>
    <dgm:pt modelId="{4ECF8970-D455-4918-A444-C3B237038641}">
      <dgm:prSet/>
      <dgm:spPr/>
      <dgm:t>
        <a:bodyPr/>
        <a:lstStyle/>
        <a:p>
          <a:pPr>
            <a:defRPr cap="all"/>
          </a:pPr>
          <a:r>
            <a:rPr lang="en-US"/>
            <a:t>• System Design – 3 weeks</a:t>
          </a:r>
        </a:p>
      </dgm:t>
    </dgm:pt>
    <dgm:pt modelId="{A88B2CE9-BD94-48F2-B413-E0642FB241A0}" type="parTrans" cxnId="{A7205B3E-312B-4B6F-B7DD-DE21281FEBDB}">
      <dgm:prSet/>
      <dgm:spPr/>
      <dgm:t>
        <a:bodyPr/>
        <a:lstStyle/>
        <a:p>
          <a:endParaRPr lang="en-US"/>
        </a:p>
      </dgm:t>
    </dgm:pt>
    <dgm:pt modelId="{AEBF9F4C-B951-40C4-BC9B-90F4CC13BB6C}" type="sibTrans" cxnId="{A7205B3E-312B-4B6F-B7DD-DE21281FEBDB}">
      <dgm:prSet/>
      <dgm:spPr/>
      <dgm:t>
        <a:bodyPr/>
        <a:lstStyle/>
        <a:p>
          <a:endParaRPr lang="en-US"/>
        </a:p>
      </dgm:t>
    </dgm:pt>
    <dgm:pt modelId="{4757294F-1682-46E9-ABE4-0CA81EE1434C}">
      <dgm:prSet/>
      <dgm:spPr/>
      <dgm:t>
        <a:bodyPr/>
        <a:lstStyle/>
        <a:p>
          <a:pPr>
            <a:defRPr cap="all"/>
          </a:pPr>
          <a:r>
            <a:rPr lang="en-US"/>
            <a:t>• Development – 6 weeks</a:t>
          </a:r>
        </a:p>
      </dgm:t>
    </dgm:pt>
    <dgm:pt modelId="{FDE82BA3-BDAF-46C4-AD60-9D8FE17AC847}" type="parTrans" cxnId="{8008FFEF-8CDE-49FE-8E07-C8BE4B82B580}">
      <dgm:prSet/>
      <dgm:spPr/>
      <dgm:t>
        <a:bodyPr/>
        <a:lstStyle/>
        <a:p>
          <a:endParaRPr lang="en-US"/>
        </a:p>
      </dgm:t>
    </dgm:pt>
    <dgm:pt modelId="{3738863C-1CE7-4570-9ED7-A3B20825C79C}" type="sibTrans" cxnId="{8008FFEF-8CDE-49FE-8E07-C8BE4B82B580}">
      <dgm:prSet/>
      <dgm:spPr/>
      <dgm:t>
        <a:bodyPr/>
        <a:lstStyle/>
        <a:p>
          <a:endParaRPr lang="en-US"/>
        </a:p>
      </dgm:t>
    </dgm:pt>
    <dgm:pt modelId="{BDA2D719-3846-4A7B-8A8E-856ED409D565}">
      <dgm:prSet/>
      <dgm:spPr/>
      <dgm:t>
        <a:bodyPr/>
        <a:lstStyle/>
        <a:p>
          <a:pPr>
            <a:defRPr cap="all"/>
          </a:pPr>
          <a:r>
            <a:rPr lang="en-US"/>
            <a:t>• Testing – 3 weeks</a:t>
          </a:r>
        </a:p>
      </dgm:t>
    </dgm:pt>
    <dgm:pt modelId="{33070D6C-A81F-4157-87B9-7FA5F08CA184}" type="parTrans" cxnId="{D4E01F2F-6CFC-4AA7-988B-F42555E95C3F}">
      <dgm:prSet/>
      <dgm:spPr/>
      <dgm:t>
        <a:bodyPr/>
        <a:lstStyle/>
        <a:p>
          <a:endParaRPr lang="en-US"/>
        </a:p>
      </dgm:t>
    </dgm:pt>
    <dgm:pt modelId="{EE33C56C-3464-4155-9D4C-BE9AEFFB4388}" type="sibTrans" cxnId="{D4E01F2F-6CFC-4AA7-988B-F42555E95C3F}">
      <dgm:prSet/>
      <dgm:spPr/>
      <dgm:t>
        <a:bodyPr/>
        <a:lstStyle/>
        <a:p>
          <a:endParaRPr lang="en-US"/>
        </a:p>
      </dgm:t>
    </dgm:pt>
    <dgm:pt modelId="{F7D41893-8161-41BB-99EF-A9725CD40F59}">
      <dgm:prSet/>
      <dgm:spPr/>
      <dgm:t>
        <a:bodyPr/>
        <a:lstStyle/>
        <a:p>
          <a:pPr>
            <a:defRPr cap="all"/>
          </a:pPr>
          <a:r>
            <a:rPr lang="en-US"/>
            <a:t>• Deployment – 2 weeks</a:t>
          </a:r>
        </a:p>
      </dgm:t>
    </dgm:pt>
    <dgm:pt modelId="{9F8F4F9B-02D2-45D5-A3A3-A3B521379D2D}" type="parTrans" cxnId="{41C53543-8467-491E-B581-C4B4CA200D04}">
      <dgm:prSet/>
      <dgm:spPr/>
      <dgm:t>
        <a:bodyPr/>
        <a:lstStyle/>
        <a:p>
          <a:endParaRPr lang="en-US"/>
        </a:p>
      </dgm:t>
    </dgm:pt>
    <dgm:pt modelId="{7AE86586-396A-4BE8-877C-7AFC85CFB542}" type="sibTrans" cxnId="{41C53543-8467-491E-B581-C4B4CA200D04}">
      <dgm:prSet/>
      <dgm:spPr/>
      <dgm:t>
        <a:bodyPr/>
        <a:lstStyle/>
        <a:p>
          <a:endParaRPr lang="en-US"/>
        </a:p>
      </dgm:t>
    </dgm:pt>
    <dgm:pt modelId="{ABADA70C-E7CC-421F-8CC1-AD3F98AECD7B}" type="pres">
      <dgm:prSet presAssocID="{94829921-B918-4F3C-AE46-60337F5C53E3}" presName="root" presStyleCnt="0">
        <dgm:presLayoutVars>
          <dgm:dir/>
          <dgm:resizeHandles val="exact"/>
        </dgm:presLayoutVars>
      </dgm:prSet>
      <dgm:spPr/>
    </dgm:pt>
    <dgm:pt modelId="{55554B81-E2CF-4D05-9B2C-2225A1FD0C32}" type="pres">
      <dgm:prSet presAssocID="{609657E4-DD93-494F-A54C-3AD7FF4ADE8D}" presName="compNode" presStyleCnt="0"/>
      <dgm:spPr/>
    </dgm:pt>
    <dgm:pt modelId="{A1910E67-BEA7-4A23-A388-4BB4B953F3A4}" type="pres">
      <dgm:prSet presAssocID="{609657E4-DD93-494F-A54C-3AD7FF4ADE8D}" presName="iconBgRect" presStyleLbl="bgShp" presStyleIdx="0" presStyleCnt="6"/>
      <dgm:spPr/>
    </dgm:pt>
    <dgm:pt modelId="{901AA63B-89D3-47F2-90B1-534FEDD05FBC}" type="pres">
      <dgm:prSet presAssocID="{609657E4-DD93-494F-A54C-3AD7FF4ADE8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20616FE6-2F42-437D-A7D7-CFF2A15D663B}" type="pres">
      <dgm:prSet presAssocID="{609657E4-DD93-494F-A54C-3AD7FF4ADE8D}" presName="spaceRect" presStyleCnt="0"/>
      <dgm:spPr/>
    </dgm:pt>
    <dgm:pt modelId="{FC28B5B3-AFFC-4DB2-82F8-3EE2924ACAE0}" type="pres">
      <dgm:prSet presAssocID="{609657E4-DD93-494F-A54C-3AD7FF4ADE8D}" presName="textRect" presStyleLbl="revTx" presStyleIdx="0" presStyleCnt="6">
        <dgm:presLayoutVars>
          <dgm:chMax val="1"/>
          <dgm:chPref val="1"/>
        </dgm:presLayoutVars>
      </dgm:prSet>
      <dgm:spPr/>
    </dgm:pt>
    <dgm:pt modelId="{72EFBB25-22B1-4986-933B-AD7CFCAF9E3F}" type="pres">
      <dgm:prSet presAssocID="{4CD9B54B-D051-4642-9762-EF2CDA925DE9}" presName="sibTrans" presStyleCnt="0"/>
      <dgm:spPr/>
    </dgm:pt>
    <dgm:pt modelId="{18197F00-D95A-41CA-BA21-9116381729E7}" type="pres">
      <dgm:prSet presAssocID="{4C377C0C-3DC7-4E72-893F-D5A3491176A2}" presName="compNode" presStyleCnt="0"/>
      <dgm:spPr/>
    </dgm:pt>
    <dgm:pt modelId="{EECCB943-BF96-49F2-876F-2009CF72AF7F}" type="pres">
      <dgm:prSet presAssocID="{4C377C0C-3DC7-4E72-893F-D5A3491176A2}" presName="iconBgRect" presStyleLbl="bgShp" presStyleIdx="1" presStyleCnt="6"/>
      <dgm:spPr/>
    </dgm:pt>
    <dgm:pt modelId="{991E8D28-1CBF-41C0-961D-C3D5483CC26C}" type="pres">
      <dgm:prSet presAssocID="{4C377C0C-3DC7-4E72-893F-D5A3491176A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D68B8C0F-D591-4B1F-900C-15086BBE1D31}" type="pres">
      <dgm:prSet presAssocID="{4C377C0C-3DC7-4E72-893F-D5A3491176A2}" presName="spaceRect" presStyleCnt="0"/>
      <dgm:spPr/>
    </dgm:pt>
    <dgm:pt modelId="{4F73FA4A-78CA-4997-B72C-C0681241BD22}" type="pres">
      <dgm:prSet presAssocID="{4C377C0C-3DC7-4E72-893F-D5A3491176A2}" presName="textRect" presStyleLbl="revTx" presStyleIdx="1" presStyleCnt="6">
        <dgm:presLayoutVars>
          <dgm:chMax val="1"/>
          <dgm:chPref val="1"/>
        </dgm:presLayoutVars>
      </dgm:prSet>
      <dgm:spPr/>
    </dgm:pt>
    <dgm:pt modelId="{7164B761-2C9C-4FF8-8190-EBF6C6F76A4B}" type="pres">
      <dgm:prSet presAssocID="{4F575276-034B-47C6-A53A-EF298A9A2FC2}" presName="sibTrans" presStyleCnt="0"/>
      <dgm:spPr/>
    </dgm:pt>
    <dgm:pt modelId="{91E4380B-0B03-42F6-A727-AEE1F24ED4B5}" type="pres">
      <dgm:prSet presAssocID="{4ECF8970-D455-4918-A444-C3B237038641}" presName="compNode" presStyleCnt="0"/>
      <dgm:spPr/>
    </dgm:pt>
    <dgm:pt modelId="{C5CE902B-636B-4265-8C34-05C6F242B17A}" type="pres">
      <dgm:prSet presAssocID="{4ECF8970-D455-4918-A444-C3B237038641}" presName="iconBgRect" presStyleLbl="bgShp" presStyleIdx="2" presStyleCnt="6"/>
      <dgm:spPr/>
    </dgm:pt>
    <dgm:pt modelId="{DDE6B1C4-13AF-4A9D-8F34-2209AC924A7C}" type="pres">
      <dgm:prSet presAssocID="{4ECF8970-D455-4918-A444-C3B23703864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02DD043-8591-4328-93D0-E905982EEA50}" type="pres">
      <dgm:prSet presAssocID="{4ECF8970-D455-4918-A444-C3B237038641}" presName="spaceRect" presStyleCnt="0"/>
      <dgm:spPr/>
    </dgm:pt>
    <dgm:pt modelId="{E06FC18C-9FD3-409F-AC5B-6E522A355BF7}" type="pres">
      <dgm:prSet presAssocID="{4ECF8970-D455-4918-A444-C3B237038641}" presName="textRect" presStyleLbl="revTx" presStyleIdx="2" presStyleCnt="6">
        <dgm:presLayoutVars>
          <dgm:chMax val="1"/>
          <dgm:chPref val="1"/>
        </dgm:presLayoutVars>
      </dgm:prSet>
      <dgm:spPr/>
    </dgm:pt>
    <dgm:pt modelId="{784BD81F-33F9-4392-99BB-92E4C738DAD0}" type="pres">
      <dgm:prSet presAssocID="{AEBF9F4C-B951-40C4-BC9B-90F4CC13BB6C}" presName="sibTrans" presStyleCnt="0"/>
      <dgm:spPr/>
    </dgm:pt>
    <dgm:pt modelId="{F54AA0E3-7962-4E02-A1A2-A4F02EECDEDB}" type="pres">
      <dgm:prSet presAssocID="{4757294F-1682-46E9-ABE4-0CA81EE1434C}" presName="compNode" presStyleCnt="0"/>
      <dgm:spPr/>
    </dgm:pt>
    <dgm:pt modelId="{6C3F15F5-8E5E-4CF9-9018-93B8EDAB4AF2}" type="pres">
      <dgm:prSet presAssocID="{4757294F-1682-46E9-ABE4-0CA81EE1434C}" presName="iconBgRect" presStyleLbl="bgShp" presStyleIdx="3" presStyleCnt="6"/>
      <dgm:spPr/>
    </dgm:pt>
    <dgm:pt modelId="{96A29654-0253-4C42-B891-131CAD9B2A1E}" type="pres">
      <dgm:prSet presAssocID="{4757294F-1682-46E9-ABE4-0CA81EE1434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1E04CEA6-7F89-4931-994E-22534382C633}" type="pres">
      <dgm:prSet presAssocID="{4757294F-1682-46E9-ABE4-0CA81EE1434C}" presName="spaceRect" presStyleCnt="0"/>
      <dgm:spPr/>
    </dgm:pt>
    <dgm:pt modelId="{C596A94B-1FAF-4DF1-8793-18993ADB7554}" type="pres">
      <dgm:prSet presAssocID="{4757294F-1682-46E9-ABE4-0CA81EE1434C}" presName="textRect" presStyleLbl="revTx" presStyleIdx="3" presStyleCnt="6">
        <dgm:presLayoutVars>
          <dgm:chMax val="1"/>
          <dgm:chPref val="1"/>
        </dgm:presLayoutVars>
      </dgm:prSet>
      <dgm:spPr/>
    </dgm:pt>
    <dgm:pt modelId="{116FB98E-581E-49F5-A108-9D6B297887D1}" type="pres">
      <dgm:prSet presAssocID="{3738863C-1CE7-4570-9ED7-A3B20825C79C}" presName="sibTrans" presStyleCnt="0"/>
      <dgm:spPr/>
    </dgm:pt>
    <dgm:pt modelId="{ACC2C8A5-7913-40FC-9AB8-6394879B5430}" type="pres">
      <dgm:prSet presAssocID="{BDA2D719-3846-4A7B-8A8E-856ED409D565}" presName="compNode" presStyleCnt="0"/>
      <dgm:spPr/>
    </dgm:pt>
    <dgm:pt modelId="{4ADE278E-7DF6-4169-B855-3695E2784ED2}" type="pres">
      <dgm:prSet presAssocID="{BDA2D719-3846-4A7B-8A8E-856ED409D565}" presName="iconBgRect" presStyleLbl="bgShp" presStyleIdx="4" presStyleCnt="6"/>
      <dgm:spPr/>
    </dgm:pt>
    <dgm:pt modelId="{099CF9A9-3F5C-4E20-953C-509EB741D0B9}" type="pres">
      <dgm:prSet presAssocID="{BDA2D719-3846-4A7B-8A8E-856ED409D56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E4B0ADBE-9BF5-445B-843B-CD9DB73C33CF}" type="pres">
      <dgm:prSet presAssocID="{BDA2D719-3846-4A7B-8A8E-856ED409D565}" presName="spaceRect" presStyleCnt="0"/>
      <dgm:spPr/>
    </dgm:pt>
    <dgm:pt modelId="{8151D9A8-F88A-4F6F-856B-5B63011457AF}" type="pres">
      <dgm:prSet presAssocID="{BDA2D719-3846-4A7B-8A8E-856ED409D565}" presName="textRect" presStyleLbl="revTx" presStyleIdx="4" presStyleCnt="6">
        <dgm:presLayoutVars>
          <dgm:chMax val="1"/>
          <dgm:chPref val="1"/>
        </dgm:presLayoutVars>
      </dgm:prSet>
      <dgm:spPr/>
    </dgm:pt>
    <dgm:pt modelId="{FE949332-EE0B-46F5-997F-D9C9ECF8702A}" type="pres">
      <dgm:prSet presAssocID="{EE33C56C-3464-4155-9D4C-BE9AEFFB4388}" presName="sibTrans" presStyleCnt="0"/>
      <dgm:spPr/>
    </dgm:pt>
    <dgm:pt modelId="{DDD1E490-0A4F-457A-9466-588A12EEEEE2}" type="pres">
      <dgm:prSet presAssocID="{F7D41893-8161-41BB-99EF-A9725CD40F59}" presName="compNode" presStyleCnt="0"/>
      <dgm:spPr/>
    </dgm:pt>
    <dgm:pt modelId="{9AC5E623-8C49-4BB6-8DF8-61EE5CA750D2}" type="pres">
      <dgm:prSet presAssocID="{F7D41893-8161-41BB-99EF-A9725CD40F59}" presName="iconBgRect" presStyleLbl="bgShp" presStyleIdx="5" presStyleCnt="6"/>
      <dgm:spPr/>
    </dgm:pt>
    <dgm:pt modelId="{239B6A82-7CE5-4F5A-B3E3-939BFCFF5736}" type="pres">
      <dgm:prSet presAssocID="{F7D41893-8161-41BB-99EF-A9725CD40F5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1C841ECA-E9E8-4812-A262-E34C95645378}" type="pres">
      <dgm:prSet presAssocID="{F7D41893-8161-41BB-99EF-A9725CD40F59}" presName="spaceRect" presStyleCnt="0"/>
      <dgm:spPr/>
    </dgm:pt>
    <dgm:pt modelId="{2FC02B30-4CF7-4CF4-AA61-6E415D16F8F6}" type="pres">
      <dgm:prSet presAssocID="{F7D41893-8161-41BB-99EF-A9725CD40F5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ABC8427-9A89-4243-AB17-60F124745391}" type="presOf" srcId="{4757294F-1682-46E9-ABE4-0CA81EE1434C}" destId="{C596A94B-1FAF-4DF1-8793-18993ADB7554}" srcOrd="0" destOrd="0" presId="urn:microsoft.com/office/officeart/2018/5/layout/IconCircleLabelList"/>
    <dgm:cxn modelId="{D4E01F2F-6CFC-4AA7-988B-F42555E95C3F}" srcId="{94829921-B918-4F3C-AE46-60337F5C53E3}" destId="{BDA2D719-3846-4A7B-8A8E-856ED409D565}" srcOrd="4" destOrd="0" parTransId="{33070D6C-A81F-4157-87B9-7FA5F08CA184}" sibTransId="{EE33C56C-3464-4155-9D4C-BE9AEFFB4388}"/>
    <dgm:cxn modelId="{09362A3C-86CC-4A6B-BC6F-6B196E030188}" type="presOf" srcId="{94829921-B918-4F3C-AE46-60337F5C53E3}" destId="{ABADA70C-E7CC-421F-8CC1-AD3F98AECD7B}" srcOrd="0" destOrd="0" presId="urn:microsoft.com/office/officeart/2018/5/layout/IconCircleLabelList"/>
    <dgm:cxn modelId="{A7205B3E-312B-4B6F-B7DD-DE21281FEBDB}" srcId="{94829921-B918-4F3C-AE46-60337F5C53E3}" destId="{4ECF8970-D455-4918-A444-C3B237038641}" srcOrd="2" destOrd="0" parTransId="{A88B2CE9-BD94-48F2-B413-E0642FB241A0}" sibTransId="{AEBF9F4C-B951-40C4-BC9B-90F4CC13BB6C}"/>
    <dgm:cxn modelId="{CEAD615F-0F51-4DDD-ACE2-9E33EC85FF71}" type="presOf" srcId="{F7D41893-8161-41BB-99EF-A9725CD40F59}" destId="{2FC02B30-4CF7-4CF4-AA61-6E415D16F8F6}" srcOrd="0" destOrd="0" presId="urn:microsoft.com/office/officeart/2018/5/layout/IconCircleLabelList"/>
    <dgm:cxn modelId="{41C53543-8467-491E-B581-C4B4CA200D04}" srcId="{94829921-B918-4F3C-AE46-60337F5C53E3}" destId="{F7D41893-8161-41BB-99EF-A9725CD40F59}" srcOrd="5" destOrd="0" parTransId="{9F8F4F9B-02D2-45D5-A3A3-A3B521379D2D}" sibTransId="{7AE86586-396A-4BE8-877C-7AFC85CFB542}"/>
    <dgm:cxn modelId="{9638C168-E8C0-451F-867C-B79135CF22A7}" type="presOf" srcId="{609657E4-DD93-494F-A54C-3AD7FF4ADE8D}" destId="{FC28B5B3-AFFC-4DB2-82F8-3EE2924ACAE0}" srcOrd="0" destOrd="0" presId="urn:microsoft.com/office/officeart/2018/5/layout/IconCircleLabelList"/>
    <dgm:cxn modelId="{3D880553-0119-4327-96F7-168A77E65037}" type="presOf" srcId="{4C377C0C-3DC7-4E72-893F-D5A3491176A2}" destId="{4F73FA4A-78CA-4997-B72C-C0681241BD22}" srcOrd="0" destOrd="0" presId="urn:microsoft.com/office/officeart/2018/5/layout/IconCircleLabelList"/>
    <dgm:cxn modelId="{8B421A81-4AC4-4361-B6DC-56A8D838D852}" srcId="{94829921-B918-4F3C-AE46-60337F5C53E3}" destId="{609657E4-DD93-494F-A54C-3AD7FF4ADE8D}" srcOrd="0" destOrd="0" parTransId="{4F784A28-7BF8-4CB6-8EDD-FB6FF69CA05D}" sibTransId="{4CD9B54B-D051-4642-9762-EF2CDA925DE9}"/>
    <dgm:cxn modelId="{DB08DD89-1286-4831-A799-CC94621F8526}" type="presOf" srcId="{4ECF8970-D455-4918-A444-C3B237038641}" destId="{E06FC18C-9FD3-409F-AC5B-6E522A355BF7}" srcOrd="0" destOrd="0" presId="urn:microsoft.com/office/officeart/2018/5/layout/IconCircleLabelList"/>
    <dgm:cxn modelId="{6AF48194-25CE-4D5C-8DB3-DFD5B2E1C08E}" srcId="{94829921-B918-4F3C-AE46-60337F5C53E3}" destId="{4C377C0C-3DC7-4E72-893F-D5A3491176A2}" srcOrd="1" destOrd="0" parTransId="{C97DD81D-EE7D-4726-B1B9-8EA67216B64B}" sibTransId="{4F575276-034B-47C6-A53A-EF298A9A2FC2}"/>
    <dgm:cxn modelId="{586488EF-1B8A-4111-B071-A228FA515B3E}" type="presOf" srcId="{BDA2D719-3846-4A7B-8A8E-856ED409D565}" destId="{8151D9A8-F88A-4F6F-856B-5B63011457AF}" srcOrd="0" destOrd="0" presId="urn:microsoft.com/office/officeart/2018/5/layout/IconCircleLabelList"/>
    <dgm:cxn modelId="{8008FFEF-8CDE-49FE-8E07-C8BE4B82B580}" srcId="{94829921-B918-4F3C-AE46-60337F5C53E3}" destId="{4757294F-1682-46E9-ABE4-0CA81EE1434C}" srcOrd="3" destOrd="0" parTransId="{FDE82BA3-BDAF-46C4-AD60-9D8FE17AC847}" sibTransId="{3738863C-1CE7-4570-9ED7-A3B20825C79C}"/>
    <dgm:cxn modelId="{504E660E-6EE4-4A12-899C-D4D7B58C2751}" type="presParOf" srcId="{ABADA70C-E7CC-421F-8CC1-AD3F98AECD7B}" destId="{55554B81-E2CF-4D05-9B2C-2225A1FD0C32}" srcOrd="0" destOrd="0" presId="urn:microsoft.com/office/officeart/2018/5/layout/IconCircleLabelList"/>
    <dgm:cxn modelId="{82CE7AFD-D394-40E1-84E2-381681CD5362}" type="presParOf" srcId="{55554B81-E2CF-4D05-9B2C-2225A1FD0C32}" destId="{A1910E67-BEA7-4A23-A388-4BB4B953F3A4}" srcOrd="0" destOrd="0" presId="urn:microsoft.com/office/officeart/2018/5/layout/IconCircleLabelList"/>
    <dgm:cxn modelId="{3E5B739C-7944-453B-B60E-D8A8B9174953}" type="presParOf" srcId="{55554B81-E2CF-4D05-9B2C-2225A1FD0C32}" destId="{901AA63B-89D3-47F2-90B1-534FEDD05FBC}" srcOrd="1" destOrd="0" presId="urn:microsoft.com/office/officeart/2018/5/layout/IconCircleLabelList"/>
    <dgm:cxn modelId="{530C5DA1-7BD8-4C1C-A794-C1BAB2C56372}" type="presParOf" srcId="{55554B81-E2CF-4D05-9B2C-2225A1FD0C32}" destId="{20616FE6-2F42-437D-A7D7-CFF2A15D663B}" srcOrd="2" destOrd="0" presId="urn:microsoft.com/office/officeart/2018/5/layout/IconCircleLabelList"/>
    <dgm:cxn modelId="{DF626AA2-61E5-4249-A04D-4F6D49359015}" type="presParOf" srcId="{55554B81-E2CF-4D05-9B2C-2225A1FD0C32}" destId="{FC28B5B3-AFFC-4DB2-82F8-3EE2924ACAE0}" srcOrd="3" destOrd="0" presId="urn:microsoft.com/office/officeart/2018/5/layout/IconCircleLabelList"/>
    <dgm:cxn modelId="{B4E96500-F0DA-4825-8CA3-05FA22B800AD}" type="presParOf" srcId="{ABADA70C-E7CC-421F-8CC1-AD3F98AECD7B}" destId="{72EFBB25-22B1-4986-933B-AD7CFCAF9E3F}" srcOrd="1" destOrd="0" presId="urn:microsoft.com/office/officeart/2018/5/layout/IconCircleLabelList"/>
    <dgm:cxn modelId="{83BC8F0C-4E8B-4229-B542-5B766317FECE}" type="presParOf" srcId="{ABADA70C-E7CC-421F-8CC1-AD3F98AECD7B}" destId="{18197F00-D95A-41CA-BA21-9116381729E7}" srcOrd="2" destOrd="0" presId="urn:microsoft.com/office/officeart/2018/5/layout/IconCircleLabelList"/>
    <dgm:cxn modelId="{CB6A4572-F74A-4610-B010-B211423CBCDC}" type="presParOf" srcId="{18197F00-D95A-41CA-BA21-9116381729E7}" destId="{EECCB943-BF96-49F2-876F-2009CF72AF7F}" srcOrd="0" destOrd="0" presId="urn:microsoft.com/office/officeart/2018/5/layout/IconCircleLabelList"/>
    <dgm:cxn modelId="{880CDDE4-36E8-4184-A75E-70A3622ACBE3}" type="presParOf" srcId="{18197F00-D95A-41CA-BA21-9116381729E7}" destId="{991E8D28-1CBF-41C0-961D-C3D5483CC26C}" srcOrd="1" destOrd="0" presId="urn:microsoft.com/office/officeart/2018/5/layout/IconCircleLabelList"/>
    <dgm:cxn modelId="{7D2D9520-208F-4D03-8E09-7DCE9B98C764}" type="presParOf" srcId="{18197F00-D95A-41CA-BA21-9116381729E7}" destId="{D68B8C0F-D591-4B1F-900C-15086BBE1D31}" srcOrd="2" destOrd="0" presId="urn:microsoft.com/office/officeart/2018/5/layout/IconCircleLabelList"/>
    <dgm:cxn modelId="{E884C923-52A7-4FD9-8689-F43FADA29678}" type="presParOf" srcId="{18197F00-D95A-41CA-BA21-9116381729E7}" destId="{4F73FA4A-78CA-4997-B72C-C0681241BD22}" srcOrd="3" destOrd="0" presId="urn:microsoft.com/office/officeart/2018/5/layout/IconCircleLabelList"/>
    <dgm:cxn modelId="{EB0366BA-D3BC-4848-A139-1276D389F884}" type="presParOf" srcId="{ABADA70C-E7CC-421F-8CC1-AD3F98AECD7B}" destId="{7164B761-2C9C-4FF8-8190-EBF6C6F76A4B}" srcOrd="3" destOrd="0" presId="urn:microsoft.com/office/officeart/2018/5/layout/IconCircleLabelList"/>
    <dgm:cxn modelId="{ABA0C01E-2752-4CB3-A975-2EA346EF0C74}" type="presParOf" srcId="{ABADA70C-E7CC-421F-8CC1-AD3F98AECD7B}" destId="{91E4380B-0B03-42F6-A727-AEE1F24ED4B5}" srcOrd="4" destOrd="0" presId="urn:microsoft.com/office/officeart/2018/5/layout/IconCircleLabelList"/>
    <dgm:cxn modelId="{F39FE976-C474-4CA9-A28C-C5F69CBA71D3}" type="presParOf" srcId="{91E4380B-0B03-42F6-A727-AEE1F24ED4B5}" destId="{C5CE902B-636B-4265-8C34-05C6F242B17A}" srcOrd="0" destOrd="0" presId="urn:microsoft.com/office/officeart/2018/5/layout/IconCircleLabelList"/>
    <dgm:cxn modelId="{AF1BE60F-99A3-4D8D-9B19-6204B59E9FA4}" type="presParOf" srcId="{91E4380B-0B03-42F6-A727-AEE1F24ED4B5}" destId="{DDE6B1C4-13AF-4A9D-8F34-2209AC924A7C}" srcOrd="1" destOrd="0" presId="urn:microsoft.com/office/officeart/2018/5/layout/IconCircleLabelList"/>
    <dgm:cxn modelId="{195627DB-9479-4022-8C1F-EC0D8C3F67EA}" type="presParOf" srcId="{91E4380B-0B03-42F6-A727-AEE1F24ED4B5}" destId="{102DD043-8591-4328-93D0-E905982EEA50}" srcOrd="2" destOrd="0" presId="urn:microsoft.com/office/officeart/2018/5/layout/IconCircleLabelList"/>
    <dgm:cxn modelId="{49417D06-864E-4107-87B9-F056ACEEFEF3}" type="presParOf" srcId="{91E4380B-0B03-42F6-A727-AEE1F24ED4B5}" destId="{E06FC18C-9FD3-409F-AC5B-6E522A355BF7}" srcOrd="3" destOrd="0" presId="urn:microsoft.com/office/officeart/2018/5/layout/IconCircleLabelList"/>
    <dgm:cxn modelId="{9BE7C2D8-3A3C-4D91-B96C-0925B405EA9C}" type="presParOf" srcId="{ABADA70C-E7CC-421F-8CC1-AD3F98AECD7B}" destId="{784BD81F-33F9-4392-99BB-92E4C738DAD0}" srcOrd="5" destOrd="0" presId="urn:microsoft.com/office/officeart/2018/5/layout/IconCircleLabelList"/>
    <dgm:cxn modelId="{966AE82B-F879-4E03-81B1-4BBC54D79471}" type="presParOf" srcId="{ABADA70C-E7CC-421F-8CC1-AD3F98AECD7B}" destId="{F54AA0E3-7962-4E02-A1A2-A4F02EECDEDB}" srcOrd="6" destOrd="0" presId="urn:microsoft.com/office/officeart/2018/5/layout/IconCircleLabelList"/>
    <dgm:cxn modelId="{D7652B10-4ADC-4B8C-8D40-E39A6BD35BE7}" type="presParOf" srcId="{F54AA0E3-7962-4E02-A1A2-A4F02EECDEDB}" destId="{6C3F15F5-8E5E-4CF9-9018-93B8EDAB4AF2}" srcOrd="0" destOrd="0" presId="urn:microsoft.com/office/officeart/2018/5/layout/IconCircleLabelList"/>
    <dgm:cxn modelId="{07873721-1254-4B2E-849C-3A433946FD74}" type="presParOf" srcId="{F54AA0E3-7962-4E02-A1A2-A4F02EECDEDB}" destId="{96A29654-0253-4C42-B891-131CAD9B2A1E}" srcOrd="1" destOrd="0" presId="urn:microsoft.com/office/officeart/2018/5/layout/IconCircleLabelList"/>
    <dgm:cxn modelId="{3ECE84EE-8F47-4F7C-8C6B-9075EA06AA32}" type="presParOf" srcId="{F54AA0E3-7962-4E02-A1A2-A4F02EECDEDB}" destId="{1E04CEA6-7F89-4931-994E-22534382C633}" srcOrd="2" destOrd="0" presId="urn:microsoft.com/office/officeart/2018/5/layout/IconCircleLabelList"/>
    <dgm:cxn modelId="{98BDFF5A-ADD8-4F17-A2CE-5BBED6B91A12}" type="presParOf" srcId="{F54AA0E3-7962-4E02-A1A2-A4F02EECDEDB}" destId="{C596A94B-1FAF-4DF1-8793-18993ADB7554}" srcOrd="3" destOrd="0" presId="urn:microsoft.com/office/officeart/2018/5/layout/IconCircleLabelList"/>
    <dgm:cxn modelId="{BB3B6154-EAD7-4DF9-8999-712A763E0D75}" type="presParOf" srcId="{ABADA70C-E7CC-421F-8CC1-AD3F98AECD7B}" destId="{116FB98E-581E-49F5-A108-9D6B297887D1}" srcOrd="7" destOrd="0" presId="urn:microsoft.com/office/officeart/2018/5/layout/IconCircleLabelList"/>
    <dgm:cxn modelId="{F1905E63-8319-4328-B8E0-8D7A69A3D8AE}" type="presParOf" srcId="{ABADA70C-E7CC-421F-8CC1-AD3F98AECD7B}" destId="{ACC2C8A5-7913-40FC-9AB8-6394879B5430}" srcOrd="8" destOrd="0" presId="urn:microsoft.com/office/officeart/2018/5/layout/IconCircleLabelList"/>
    <dgm:cxn modelId="{01368F62-7A41-40E3-A2D1-33182D65B3C9}" type="presParOf" srcId="{ACC2C8A5-7913-40FC-9AB8-6394879B5430}" destId="{4ADE278E-7DF6-4169-B855-3695E2784ED2}" srcOrd="0" destOrd="0" presId="urn:microsoft.com/office/officeart/2018/5/layout/IconCircleLabelList"/>
    <dgm:cxn modelId="{6D7E3D16-CA8E-402D-ABFD-B927C19DAE76}" type="presParOf" srcId="{ACC2C8A5-7913-40FC-9AB8-6394879B5430}" destId="{099CF9A9-3F5C-4E20-953C-509EB741D0B9}" srcOrd="1" destOrd="0" presId="urn:microsoft.com/office/officeart/2018/5/layout/IconCircleLabelList"/>
    <dgm:cxn modelId="{64FD3557-5741-4319-B6F1-9EE98CD2FCB6}" type="presParOf" srcId="{ACC2C8A5-7913-40FC-9AB8-6394879B5430}" destId="{E4B0ADBE-9BF5-445B-843B-CD9DB73C33CF}" srcOrd="2" destOrd="0" presId="urn:microsoft.com/office/officeart/2018/5/layout/IconCircleLabelList"/>
    <dgm:cxn modelId="{597EC353-2B9F-47C2-8566-ABC6BA75CC32}" type="presParOf" srcId="{ACC2C8A5-7913-40FC-9AB8-6394879B5430}" destId="{8151D9A8-F88A-4F6F-856B-5B63011457AF}" srcOrd="3" destOrd="0" presId="urn:microsoft.com/office/officeart/2018/5/layout/IconCircleLabelList"/>
    <dgm:cxn modelId="{19CBCED5-14DD-4A39-81FB-146C4DF0478E}" type="presParOf" srcId="{ABADA70C-E7CC-421F-8CC1-AD3F98AECD7B}" destId="{FE949332-EE0B-46F5-997F-D9C9ECF8702A}" srcOrd="9" destOrd="0" presId="urn:microsoft.com/office/officeart/2018/5/layout/IconCircleLabelList"/>
    <dgm:cxn modelId="{1EF90649-F593-4EEA-AD5E-C9D1CB93EB8A}" type="presParOf" srcId="{ABADA70C-E7CC-421F-8CC1-AD3F98AECD7B}" destId="{DDD1E490-0A4F-457A-9466-588A12EEEEE2}" srcOrd="10" destOrd="0" presId="urn:microsoft.com/office/officeart/2018/5/layout/IconCircleLabelList"/>
    <dgm:cxn modelId="{B9CB0D40-EB6C-4A0E-AD1C-D6807CD70618}" type="presParOf" srcId="{DDD1E490-0A4F-457A-9466-588A12EEEEE2}" destId="{9AC5E623-8C49-4BB6-8DF8-61EE5CA750D2}" srcOrd="0" destOrd="0" presId="urn:microsoft.com/office/officeart/2018/5/layout/IconCircleLabelList"/>
    <dgm:cxn modelId="{EE131474-5364-4DCD-ABBF-B4C908DEA091}" type="presParOf" srcId="{DDD1E490-0A4F-457A-9466-588A12EEEEE2}" destId="{239B6A82-7CE5-4F5A-B3E3-939BFCFF5736}" srcOrd="1" destOrd="0" presId="urn:microsoft.com/office/officeart/2018/5/layout/IconCircleLabelList"/>
    <dgm:cxn modelId="{D6AE35F5-9C29-44EA-9334-0103C98C0E32}" type="presParOf" srcId="{DDD1E490-0A4F-457A-9466-588A12EEEEE2}" destId="{1C841ECA-E9E8-4812-A262-E34C95645378}" srcOrd="2" destOrd="0" presId="urn:microsoft.com/office/officeart/2018/5/layout/IconCircleLabelList"/>
    <dgm:cxn modelId="{8BE54B20-C21C-49B6-9FB1-16CD05C003D3}" type="presParOf" srcId="{DDD1E490-0A4F-457A-9466-588A12EEEEE2}" destId="{2FC02B30-4CF7-4CF4-AA61-6E415D16F8F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10E67-BEA7-4A23-A388-4BB4B953F3A4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1AA63B-89D3-47F2-90B1-534FEDD05FBC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28B5B3-AFFC-4DB2-82F8-3EE2924ACAE0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Estimated Project Duration: 16 Weeks</a:t>
          </a:r>
        </a:p>
      </dsp:txBody>
      <dsp:txXfrm>
        <a:off x="228784" y="1313725"/>
        <a:ext cx="1641796" cy="656718"/>
      </dsp:txXfrm>
    </dsp:sp>
    <dsp:sp modelId="{EECCB943-BF96-49F2-876F-2009CF72AF7F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1E8D28-1CBF-41C0-961D-C3D5483CC26C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3FA4A-78CA-4997-B72C-C0681241BD22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Planning – 2 weeks</a:t>
          </a:r>
        </a:p>
      </dsp:txBody>
      <dsp:txXfrm>
        <a:off x="2157895" y="1313725"/>
        <a:ext cx="1641796" cy="656718"/>
      </dsp:txXfrm>
    </dsp:sp>
    <dsp:sp modelId="{C5CE902B-636B-4265-8C34-05C6F242B17A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E6B1C4-13AF-4A9D-8F34-2209AC924A7C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FC18C-9FD3-409F-AC5B-6E522A355BF7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System Design – 3 weeks</a:t>
          </a:r>
        </a:p>
      </dsp:txBody>
      <dsp:txXfrm>
        <a:off x="4087007" y="1313725"/>
        <a:ext cx="1641796" cy="656718"/>
      </dsp:txXfrm>
    </dsp:sp>
    <dsp:sp modelId="{6C3F15F5-8E5E-4CF9-9018-93B8EDAB4AF2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29654-0253-4C42-B891-131CAD9B2A1E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6A94B-1FAF-4DF1-8793-18993ADB7554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Development – 6 weeks</a:t>
          </a:r>
        </a:p>
      </dsp:txBody>
      <dsp:txXfrm>
        <a:off x="6016118" y="1313725"/>
        <a:ext cx="1641796" cy="656718"/>
      </dsp:txXfrm>
    </dsp:sp>
    <dsp:sp modelId="{4ADE278E-7DF6-4169-B855-3695E2784ED2}">
      <dsp:nvSpPr>
        <dsp:cNvPr id="0" name=""/>
        <dsp:cNvSpPr/>
      </dsp:nvSpPr>
      <dsp:spPr>
        <a:xfrm>
          <a:off x="2478046" y="2380893"/>
          <a:ext cx="1001496" cy="10014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9CF9A9-3F5C-4E20-953C-509EB741D0B9}">
      <dsp:nvSpPr>
        <dsp:cNvPr id="0" name=""/>
        <dsp:cNvSpPr/>
      </dsp:nvSpPr>
      <dsp:spPr>
        <a:xfrm>
          <a:off x="2691479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1D9A8-F88A-4F6F-856B-5B63011457AF}">
      <dsp:nvSpPr>
        <dsp:cNvPr id="0" name=""/>
        <dsp:cNvSpPr/>
      </dsp:nvSpPr>
      <dsp:spPr>
        <a:xfrm>
          <a:off x="2157895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Testing – 3 weeks</a:t>
          </a:r>
        </a:p>
      </dsp:txBody>
      <dsp:txXfrm>
        <a:off x="2157895" y="3694331"/>
        <a:ext cx="1641796" cy="656718"/>
      </dsp:txXfrm>
    </dsp:sp>
    <dsp:sp modelId="{9AC5E623-8C49-4BB6-8DF8-61EE5CA750D2}">
      <dsp:nvSpPr>
        <dsp:cNvPr id="0" name=""/>
        <dsp:cNvSpPr/>
      </dsp:nvSpPr>
      <dsp:spPr>
        <a:xfrm>
          <a:off x="4407157" y="2380893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B6A82-7CE5-4F5A-B3E3-939BFCFF5736}">
      <dsp:nvSpPr>
        <dsp:cNvPr id="0" name=""/>
        <dsp:cNvSpPr/>
      </dsp:nvSpPr>
      <dsp:spPr>
        <a:xfrm>
          <a:off x="4620591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02B30-4CF7-4CF4-AA61-6E415D16F8F6}">
      <dsp:nvSpPr>
        <dsp:cNvPr id="0" name=""/>
        <dsp:cNvSpPr/>
      </dsp:nvSpPr>
      <dsp:spPr>
        <a:xfrm>
          <a:off x="4087007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Deployment – 2 weeks</a:t>
          </a:r>
        </a:p>
      </dsp:txBody>
      <dsp:txXfrm>
        <a:off x="4087007" y="3694331"/>
        <a:ext cx="1641796" cy="656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3286" y="467271"/>
            <a:ext cx="3146755" cy="205252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/>
              <a:t>System Implementation Plan</a:t>
            </a:r>
          </a:p>
          <a:p>
            <a:pPr>
              <a:lnSpc>
                <a:spcPct val="90000"/>
              </a:lnSpc>
            </a:pPr>
            <a:r>
              <a:rPr lang="en-US" sz="2700"/>
              <a:t>Secure Banking Information System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2223" y="554152"/>
            <a:ext cx="4306642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14C7C0-FA1D-4105-8345-1DF76F98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7063" y="703679"/>
            <a:ext cx="565287" cy="1016562"/>
            <a:chOff x="422753" y="703679"/>
            <a:chExt cx="753718" cy="1016562"/>
          </a:xfrm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C850804-7EF1-BB9D-1375-200231671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27" y="2653159"/>
            <a:ext cx="2964434" cy="154417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1519" y="2990818"/>
            <a:ext cx="3118523" cy="2913872"/>
          </a:xfrm>
        </p:spPr>
        <p:txBody>
          <a:bodyPr anchor="t">
            <a:normAutofit/>
          </a:bodyPr>
          <a:lstStyle/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Seth Payne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Indiana University Northwest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Systems Implementation Project</a:t>
            </a: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0611" y="5775082"/>
            <a:ext cx="84320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r>
              <a:rPr dirty="0"/>
              <a:t>Project Scenario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04502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Northwest Regional Bank currently operates using outdated legacy systems.</a:t>
            </a:r>
          </a:p>
          <a:p>
            <a:pPr>
              <a:lnSpc>
                <a:spcPct val="90000"/>
              </a:lnSpc>
            </a:pPr>
            <a:endParaRPr lang="en-US" sz="2000"/>
          </a:p>
          <a:p>
            <a:pPr>
              <a:lnSpc>
                <a:spcPct val="90000"/>
              </a:lnSpc>
            </a:pPr>
            <a:r>
              <a:rPr lang="en-US" sz="2000"/>
              <a:t>Problems include:</a:t>
            </a:r>
          </a:p>
          <a:p>
            <a:pPr>
              <a:lnSpc>
                <a:spcPct val="90000"/>
              </a:lnSpc>
            </a:pPr>
            <a:r>
              <a:rPr lang="en-US" sz="2000"/>
              <a:t>• Slow transaction processing</a:t>
            </a:r>
          </a:p>
          <a:p>
            <a:pPr>
              <a:lnSpc>
                <a:spcPct val="90000"/>
              </a:lnSpc>
            </a:pPr>
            <a:r>
              <a:rPr lang="en-US" sz="2000"/>
              <a:t>• Weak security protections</a:t>
            </a:r>
          </a:p>
          <a:p>
            <a:pPr>
              <a:lnSpc>
                <a:spcPct val="90000"/>
              </a:lnSpc>
            </a:pPr>
            <a:r>
              <a:rPr lang="en-US" sz="2000"/>
              <a:t>• Inefficient data management</a:t>
            </a:r>
          </a:p>
          <a:p>
            <a:pPr>
              <a:lnSpc>
                <a:spcPct val="90000"/>
              </a:lnSpc>
            </a:pPr>
            <a:r>
              <a:rPr lang="en-US" sz="2000"/>
              <a:t>• Manual data entry errors</a:t>
            </a:r>
          </a:p>
          <a:p>
            <a:pPr>
              <a:lnSpc>
                <a:spcPct val="90000"/>
              </a:lnSpc>
            </a:pPr>
            <a:endParaRPr lang="en-US" sz="2000"/>
          </a:p>
          <a:p>
            <a:pPr>
              <a:lnSpc>
                <a:spcPct val="90000"/>
              </a:lnSpc>
            </a:pPr>
            <a:r>
              <a:rPr lang="en-US" sz="2000"/>
              <a:t>Goal: Implement a modern secure banking information system.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24DA53-0AD1-7E6B-0787-CBE546097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388" y="2398064"/>
            <a:ext cx="2835788" cy="1417894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396" y="4465674"/>
            <a:ext cx="3589604" cy="1663995"/>
          </a:xfrm>
        </p:spPr>
        <p:txBody>
          <a:bodyPr anchor="t">
            <a:normAutofit/>
          </a:bodyPr>
          <a:lstStyle/>
          <a:p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System Development Life Cycle (SDLC)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31C397-3DC7-44CA-8A65-9A2ED297C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56" y="2140205"/>
            <a:ext cx="3581844" cy="20058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62156" y="0"/>
            <a:ext cx="3581843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0110" y="818707"/>
            <a:ext cx="2348466" cy="5310963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rgbClr val="595959"/>
                </a:solidFill>
              </a:rPr>
              <a:t>The project follows the SDLC framework:</a:t>
            </a:r>
          </a:p>
          <a:p>
            <a:endParaRPr lang="en-US" sz="1700">
              <a:solidFill>
                <a:srgbClr val="595959"/>
              </a:solidFill>
            </a:endParaRPr>
          </a:p>
          <a:p>
            <a:r>
              <a:rPr lang="en-US" sz="1700">
                <a:solidFill>
                  <a:srgbClr val="595959"/>
                </a:solidFill>
              </a:rPr>
              <a:t>• Planning</a:t>
            </a:r>
          </a:p>
          <a:p>
            <a:r>
              <a:rPr lang="en-US" sz="1700">
                <a:solidFill>
                  <a:srgbClr val="595959"/>
                </a:solidFill>
              </a:rPr>
              <a:t>• Analysis</a:t>
            </a:r>
          </a:p>
          <a:p>
            <a:r>
              <a:rPr lang="en-US" sz="1700">
                <a:solidFill>
                  <a:srgbClr val="595959"/>
                </a:solidFill>
              </a:rPr>
              <a:t>• Design</a:t>
            </a:r>
          </a:p>
          <a:p>
            <a:r>
              <a:rPr lang="en-US" sz="1700">
                <a:solidFill>
                  <a:srgbClr val="595959"/>
                </a:solidFill>
              </a:rPr>
              <a:t>• Implementation</a:t>
            </a:r>
          </a:p>
          <a:p>
            <a:r>
              <a:rPr lang="en-US" sz="1700">
                <a:solidFill>
                  <a:srgbClr val="595959"/>
                </a:solidFill>
              </a:rPr>
              <a:t>• Testing</a:t>
            </a:r>
          </a:p>
          <a:p>
            <a:r>
              <a:rPr lang="en-US" sz="1700">
                <a:solidFill>
                  <a:srgbClr val="595959"/>
                </a:solidFill>
              </a:rPr>
              <a:t>• Deployment</a:t>
            </a:r>
          </a:p>
          <a:p>
            <a:r>
              <a:rPr lang="en-US" sz="1700">
                <a:solidFill>
                  <a:srgbClr val="595959"/>
                </a:solidFill>
              </a:rPr>
              <a:t>• Maintenance</a:t>
            </a:r>
          </a:p>
          <a:p>
            <a:endParaRPr lang="en-US" sz="1700">
              <a:solidFill>
                <a:srgbClr val="595959"/>
              </a:solidFill>
            </a:endParaRPr>
          </a:p>
          <a:p>
            <a:r>
              <a:rPr lang="en-US" sz="1700">
                <a:solidFill>
                  <a:srgbClr val="595959"/>
                </a:solidFill>
              </a:rPr>
              <a:t>Implementation installs the system, migrates data, and prepares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Development Methodology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04502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/>
              <a:t>Agile methodology is used for development.</a:t>
            </a:r>
          </a:p>
          <a:p>
            <a:pPr>
              <a:lnSpc>
                <a:spcPct val="90000"/>
              </a:lnSpc>
            </a:pPr>
            <a:endParaRPr lang="en-US" sz="2200"/>
          </a:p>
          <a:p>
            <a:pPr>
              <a:lnSpc>
                <a:spcPct val="90000"/>
              </a:lnSpc>
            </a:pPr>
            <a:r>
              <a:rPr lang="en-US" sz="2200"/>
              <a:t>Advantages:</a:t>
            </a:r>
          </a:p>
          <a:p>
            <a:pPr>
              <a:lnSpc>
                <a:spcPct val="90000"/>
              </a:lnSpc>
            </a:pPr>
            <a:r>
              <a:rPr lang="en-US" sz="2200"/>
              <a:t>• Iterative development cycles</a:t>
            </a:r>
          </a:p>
          <a:p>
            <a:pPr>
              <a:lnSpc>
                <a:spcPct val="90000"/>
              </a:lnSpc>
            </a:pPr>
            <a:r>
              <a:rPr lang="en-US" sz="2200"/>
              <a:t>• Continuous stakeholder feedback</a:t>
            </a:r>
          </a:p>
          <a:p>
            <a:pPr>
              <a:lnSpc>
                <a:spcPct val="90000"/>
              </a:lnSpc>
            </a:pPr>
            <a:r>
              <a:rPr lang="en-US" sz="2200"/>
              <a:t>• Faster identification of system issues</a:t>
            </a:r>
          </a:p>
          <a:p>
            <a:pPr>
              <a:lnSpc>
                <a:spcPct val="90000"/>
              </a:lnSpc>
            </a:pPr>
            <a:r>
              <a:rPr lang="en-US" sz="2200"/>
              <a:t>• Flexibility for changing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65AD3-4926-0712-9E23-E4C5CB18E5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43" r="28546"/>
          <a:stretch>
            <a:fillRect/>
          </a:stretch>
        </p:blipFill>
        <p:spPr>
          <a:xfrm>
            <a:off x="4781190" y="758514"/>
            <a:ext cx="384167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4696411" y="687822"/>
            <a:ext cx="4103360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6420" y="921125"/>
            <a:ext cx="593266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en-US" sz="3100"/>
              <a:t>Planning Objectives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799" y="2031101"/>
            <a:ext cx="3212238" cy="3511943"/>
          </a:xfrm>
        </p:spPr>
        <p:txBody>
          <a:bodyPr anchor="ctr">
            <a:normAutofit/>
          </a:bodyPr>
          <a:lstStyle/>
          <a:p>
            <a:r>
              <a:rPr lang="en-US" sz="1600"/>
              <a:t>Primary objectives:</a:t>
            </a:r>
          </a:p>
          <a:p>
            <a:endParaRPr lang="en-US" sz="1600"/>
          </a:p>
          <a:p>
            <a:r>
              <a:rPr lang="en-US" sz="1600"/>
              <a:t>• Replace outdated legacy systems</a:t>
            </a:r>
          </a:p>
          <a:p>
            <a:r>
              <a:rPr lang="en-US" sz="1600"/>
              <a:t>• Improve transaction speed and accuracy</a:t>
            </a:r>
          </a:p>
          <a:p>
            <a:r>
              <a:rPr lang="en-US" sz="1600"/>
              <a:t>• Strengthen cybersecurity protections</a:t>
            </a:r>
          </a:p>
          <a:p>
            <a:r>
              <a:rPr lang="en-US" sz="1600"/>
              <a:t>• Reduce manual processes</a:t>
            </a:r>
          </a:p>
          <a:p>
            <a:r>
              <a:rPr lang="en-US" sz="1600"/>
              <a:t>• Improve customer account management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A7039-C840-451F-7C93-6408AC89C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803" y="2130681"/>
            <a:ext cx="4221014" cy="23637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396" y="4465674"/>
            <a:ext cx="3589604" cy="1663995"/>
          </a:xfrm>
        </p:spPr>
        <p:txBody>
          <a:bodyPr anchor="t">
            <a:normAutofit/>
          </a:bodyPr>
          <a:lstStyle/>
          <a:p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Risk Assessment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51C2AB-3849-C002-0544-BE1337258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56" y="1843423"/>
            <a:ext cx="3581844" cy="230261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62156" y="0"/>
            <a:ext cx="3581843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0110" y="818707"/>
            <a:ext cx="2348466" cy="5310963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rgbClr val="595959"/>
                </a:solidFill>
              </a:rPr>
              <a:t>Key risks identified:</a:t>
            </a:r>
          </a:p>
          <a:p>
            <a:endParaRPr lang="en-US" sz="1700">
              <a:solidFill>
                <a:srgbClr val="595959"/>
              </a:solidFill>
            </a:endParaRPr>
          </a:p>
          <a:p>
            <a:r>
              <a:rPr lang="en-US" sz="1700">
                <a:solidFill>
                  <a:srgbClr val="595959"/>
                </a:solidFill>
              </a:rPr>
              <a:t>• Data migration failure</a:t>
            </a:r>
          </a:p>
          <a:p>
            <a:r>
              <a:rPr lang="en-US" sz="1700">
                <a:solidFill>
                  <a:srgbClr val="595959"/>
                </a:solidFill>
              </a:rPr>
              <a:t>• System downtime</a:t>
            </a:r>
          </a:p>
          <a:p>
            <a:r>
              <a:rPr lang="en-US" sz="1700">
                <a:solidFill>
                  <a:srgbClr val="595959"/>
                </a:solidFill>
              </a:rPr>
              <a:t>• Security vulnerabilities</a:t>
            </a:r>
          </a:p>
          <a:p>
            <a:r>
              <a:rPr lang="en-US" sz="1700">
                <a:solidFill>
                  <a:srgbClr val="595959"/>
                </a:solidFill>
              </a:rPr>
              <a:t>• User training challenges</a:t>
            </a:r>
          </a:p>
          <a:p>
            <a:endParaRPr lang="en-US" sz="1700">
              <a:solidFill>
                <a:srgbClr val="595959"/>
              </a:solidFill>
            </a:endParaRPr>
          </a:p>
          <a:p>
            <a:r>
              <a:rPr lang="en-US" sz="1700">
                <a:solidFill>
                  <a:srgbClr val="595959"/>
                </a:solidFill>
              </a:rPr>
              <a:t>Mitigation strategies include backups, parallel implementation, and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Project Timeline (Gantt Overview)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42C325-92C1-5357-2AA8-85E349DFF3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6443809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Installation Strategy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039" y="2330505"/>
            <a:ext cx="3419569" cy="3979585"/>
          </a:xfrm>
        </p:spPr>
        <p:txBody>
          <a:bodyPr anchor="ctr">
            <a:normAutofit/>
          </a:bodyPr>
          <a:lstStyle/>
          <a:p>
            <a:r>
              <a:rPr lang="en-US" sz="1700"/>
              <a:t>Parallel implementation strategy will be used.</a:t>
            </a:r>
          </a:p>
          <a:p>
            <a:endParaRPr lang="en-US" sz="1700"/>
          </a:p>
          <a:p>
            <a:r>
              <a:rPr lang="en-US" sz="1700"/>
              <a:t>Advantages:</a:t>
            </a:r>
          </a:p>
          <a:p>
            <a:r>
              <a:rPr lang="en-US" sz="1700"/>
              <a:t>• Reduced operational risk</a:t>
            </a:r>
          </a:p>
          <a:p>
            <a:r>
              <a:rPr lang="en-US" sz="1700"/>
              <a:t>• Ability to compare systems</a:t>
            </a:r>
          </a:p>
          <a:p>
            <a:r>
              <a:rPr lang="en-US" sz="1700"/>
              <a:t>• Easy rollback if issues occur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A8F9F-252C-35A7-A6A1-8C350A6C92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3" r="24431" b="2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60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en-US" sz="3100"/>
              <a:t>Data Migration Plan (ETL)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7227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675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DC8222-A366-B19D-B65B-1575B4B53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83" y="2046261"/>
            <a:ext cx="4221013" cy="253260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45833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9259" y="2031101"/>
            <a:ext cx="3212238" cy="3511943"/>
          </a:xfrm>
        </p:spPr>
        <p:txBody>
          <a:bodyPr anchor="ctr">
            <a:normAutofit/>
          </a:bodyPr>
          <a:lstStyle/>
          <a:p>
            <a:r>
              <a:rPr lang="en-US" sz="1600"/>
              <a:t>ETL Process:</a:t>
            </a:r>
          </a:p>
          <a:p>
            <a:endParaRPr lang="en-US" sz="1600"/>
          </a:p>
          <a:p>
            <a:r>
              <a:rPr lang="en-US" sz="1600"/>
              <a:t>Extract – Retrieve data from legacy systems</a:t>
            </a:r>
          </a:p>
          <a:p>
            <a:r>
              <a:rPr lang="en-US" sz="1600"/>
              <a:t>Transform – Clean and standardize the data</a:t>
            </a:r>
          </a:p>
          <a:p>
            <a:r>
              <a:rPr lang="en-US" sz="1600"/>
              <a:t>Load – Import validated data into the new system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65301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en-US" sz="4200"/>
              <a:t>Testing Plan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anchor="ctr">
            <a:normAutofit/>
          </a:bodyPr>
          <a:lstStyle/>
          <a:p>
            <a:r>
              <a:rPr lang="en-US" sz="1700"/>
              <a:t>Testing levels include:</a:t>
            </a:r>
          </a:p>
          <a:p>
            <a:endParaRPr lang="en-US" sz="1700"/>
          </a:p>
          <a:p>
            <a:r>
              <a:rPr lang="en-US" sz="1700"/>
              <a:t>• Unit Testing</a:t>
            </a:r>
          </a:p>
          <a:p>
            <a:r>
              <a:rPr lang="en-US" sz="1700"/>
              <a:t>• Integration Testing</a:t>
            </a:r>
          </a:p>
          <a:p>
            <a:r>
              <a:rPr lang="en-US" sz="1700"/>
              <a:t>• System Testing</a:t>
            </a:r>
          </a:p>
          <a:p>
            <a:r>
              <a:rPr lang="en-US" sz="1700"/>
              <a:t>• Acceptance Testing</a:t>
            </a:r>
          </a:p>
          <a:p>
            <a:endParaRPr lang="en-US" sz="1700"/>
          </a:p>
          <a:p>
            <a:r>
              <a:rPr lang="en-US" sz="1700"/>
              <a:t>Tools used: Selenium, JUnit, Postman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4D37C-2A0C-EE78-DA0C-B0AE1B42A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649" y="3249742"/>
            <a:ext cx="3862707" cy="218326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98643"/>
            <a:ext cx="3932545" cy="2225532"/>
          </a:xfrm>
        </p:spPr>
        <p:txBody>
          <a:bodyPr anchor="t">
            <a:normAutofit/>
          </a:bodyPr>
          <a:lstStyle/>
          <a:p>
            <a:r>
              <a:rPr lang="en-US" sz="4900"/>
              <a:t>Key Success Factors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4F88D19-C269-4F98-BE6B-CFB6207D3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82806" y="740316"/>
            <a:ext cx="349093" cy="872153"/>
            <a:chOff x="6110408" y="740316"/>
            <a:chExt cx="465458" cy="872153"/>
          </a:xfrm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D83486D-1CE3-9D79-FC2C-E3548DB1C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517403"/>
            <a:ext cx="3932543" cy="196627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1781" y="879355"/>
            <a:ext cx="3093569" cy="5120755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Successful implementation depends on:</a:t>
            </a:r>
          </a:p>
          <a:p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• Strong project planning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• Reliable data migration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• Comprehensive testing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• Employee training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• Strong cybersecurity protections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en-US" sz="4200"/>
              <a:t>Conclusion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anchor="ctr">
            <a:normAutofit/>
          </a:bodyPr>
          <a:lstStyle/>
          <a:p>
            <a:r>
              <a:rPr lang="en-US" sz="1700"/>
              <a:t>A structured implementation plan ensures a successful transition</a:t>
            </a:r>
          </a:p>
          <a:p>
            <a:r>
              <a:rPr lang="en-US" sz="1700"/>
              <a:t>to a modern secure banking information system.</a:t>
            </a:r>
          </a:p>
          <a:p>
            <a:endParaRPr lang="en-US" sz="1700"/>
          </a:p>
          <a:p>
            <a:r>
              <a:rPr lang="en-US" sz="1700"/>
              <a:t>Using SDLC, Agile development, and strong testing and migration</a:t>
            </a:r>
          </a:p>
          <a:p>
            <a:r>
              <a:rPr lang="en-US" sz="1700"/>
              <a:t>strategies ensures reliable deployment and improved operations.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DF997-7BFC-E338-5A10-F948CCA3A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649" y="3375700"/>
            <a:ext cx="3862707" cy="193135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371</Words>
  <Application>Microsoft Office PowerPoint</Application>
  <PresentationFormat>On-screen Show (4:3)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System Implementation Plan Secure Banking Information System</vt:lpstr>
      <vt:lpstr>Project Scenario</vt:lpstr>
      <vt:lpstr>System Development Life Cycle (SDLC)</vt:lpstr>
      <vt:lpstr>Development Methodology</vt:lpstr>
      <vt:lpstr>Planning Objectives</vt:lpstr>
      <vt:lpstr>Risk Assessment</vt:lpstr>
      <vt:lpstr>Project Timeline (Gantt Overview)</vt:lpstr>
      <vt:lpstr>Installation Strategy</vt:lpstr>
      <vt:lpstr>Data Migration Plan (ETL)</vt:lpstr>
      <vt:lpstr>Testing Plan</vt:lpstr>
      <vt:lpstr>Key Success Factors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Payne, Seth</cp:lastModifiedBy>
  <cp:revision>2</cp:revision>
  <dcterms:created xsi:type="dcterms:W3CDTF">2013-01-27T09:14:16Z</dcterms:created>
  <dcterms:modified xsi:type="dcterms:W3CDTF">2026-03-10T00:47:05Z</dcterms:modified>
  <cp:category/>
</cp:coreProperties>
</file>